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391db9fa3740b7" /><Relationship Type="http://schemas.openxmlformats.org/officeDocument/2006/relationships/extended-properties" Target="/docProps/app.xml" Id="R18f9b0933f7b4f62" /><Relationship Type="http://schemas.openxmlformats.org/officeDocument/2006/relationships/officeDocument" Target="/ppt/presentation.xml" Id="R4ed978c7282a4f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7fe2c2e48e4547"/>
  </p:sldMasterIdLst>
  <p:notesMasterIdLst>
    <p:notesMasterId xmlns:r="http://schemas.openxmlformats.org/officeDocument/2006/relationships" r:id="Rf8ab0da66ba749cc"/>
  </p:notesMasterIdLst>
  <p:sldIdLst>
    <p:sldId xmlns:r="http://schemas.openxmlformats.org/officeDocument/2006/relationships" id="256" r:id="Reb68ea311641477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e58c25b9e44a17" /><Relationship Type="http://schemas.openxmlformats.org/officeDocument/2006/relationships/slideMaster" Target="/ppt/slideMasters/slideMaster1.xml" Id="Rb27fe2c2e48e4547" /><Relationship Type="http://schemas.openxmlformats.org/officeDocument/2006/relationships/notesMaster" Target="/ppt/notesMasters/notesMaster1.xml" Id="Rf8ab0da66ba749cc" /><Relationship Type="http://schemas.openxmlformats.org/officeDocument/2006/relationships/presProps" Target="/ppt/presProps.xml" Id="Rdaa46cdaaa9a4671" /><Relationship Type="http://schemas.openxmlformats.org/officeDocument/2006/relationships/tableStyles" Target="/ppt/tableStyles.xml" Id="R14a828add5c1467b" /><Relationship Type="http://schemas.openxmlformats.org/officeDocument/2006/relationships/slide" Target="/ppt/slides/slide1.xml" Id="Reb68ea31164147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a78378088d45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69621b4b0242f0" /><Relationship Type="http://schemas.openxmlformats.org/officeDocument/2006/relationships/notesMaster" Target="/ppt/notesMasters/notesMaster1.xml" Id="R1a07809a85e745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638a77568a43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fef9a52e984d33" /><Relationship Type="http://schemas.openxmlformats.org/officeDocument/2006/relationships/slideLayout" Target="/ppt/slideLayouts/slideLayout1.xml" Id="R17636499500547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636499500547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0c57338df41ee" /><Relationship Type="http://schemas.openxmlformats.org/officeDocument/2006/relationships/notesSlide" Target="/ppt/notesSlides/notesSlide1.xml" Id="R24ffe09bf93142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2126BBC8-CBD7-4849-8B88-42A6513E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ContentPilot 架构关系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DFADC8F-3787-4E2E-BB26-70BC7094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33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核心是后台管理、资源元数据、采集任务、清洗与发布状态；n8n 负责自动化编排，不替代产品后台。</a:t>
            </a:r>
          </a:p>
        </p:txBody>
      </p:sp>
      <p:sp>
        <p:nvSpPr>
          <p:cNvPr id="3" name="user-admin">
            <a:extLst xmlns:a="http://schemas.openxmlformats.org/drawingml/2006/main">
              <a:ext uri="{FF2B5EF4-FFF2-40B4-BE49-F238E27FC236}">
                <a16:creationId xmlns:a16="http://schemas.microsoft.com/office/drawing/2014/main" id="{4F762E74-A8D5-4AFF-8283-B4991CAB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1695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用户 / 管理员</a:t>
            </a:r>
          </a:p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配置资源、查看进度、触发流程</a:t>
            </a:r>
          </a:p>
        </p:txBody>
      </p:sp>
      <p:sp>
        <p:nvSpPr>
          <p:cNvPr id="4" name="core-system">
            <a:extLst xmlns:a="http://schemas.openxmlformats.org/drawingml/2006/main">
              <a:ext uri="{FF2B5EF4-FFF2-40B4-BE49-F238E27FC236}">
                <a16:creationId xmlns:a16="http://schemas.microsoft.com/office/drawing/2014/main" id="{7B433D4E-5FCB-4222-8596-BC224DEE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352550"/>
            <a:ext cx="6286500" cy="4305300"/>
          </a:xfrm>
          <a:prstGeom xmlns:a="http://schemas.openxmlformats.org/drawingml/2006/main" prst="roundRect">
            <a:avLst>
              <a:gd name="adj" fmla="val 2655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ContentPilot 主系统</a:t>
            </a:r>
          </a:p>
        </p:txBody>
      </p:sp>
      <p:sp>
        <p:nvSpPr>
          <p:cNvPr id="5" name="next-admin">
            <a:extLst xmlns:a="http://schemas.openxmlformats.org/drawingml/2006/main">
              <a:ext uri="{FF2B5EF4-FFF2-40B4-BE49-F238E27FC236}">
                <a16:creationId xmlns:a16="http://schemas.microsoft.com/office/drawing/2014/main" id="{E5B6DC20-2B6D-4499-AF8B-BB9EC4DC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76450"/>
            <a:ext cx="18478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Next.js 后台管理</a:t>
            </a:r>
          </a:p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资源配置 / 设置 / 任务面板</a:t>
            </a:r>
          </a:p>
        </p:txBody>
      </p:sp>
      <p:sp>
        <p:nvSpPr>
          <p:cNvPr id="6" name="postgres-pgvector">
            <a:extLst xmlns:a="http://schemas.openxmlformats.org/drawingml/2006/main">
              <a:ext uri="{FF2B5EF4-FFF2-40B4-BE49-F238E27FC236}">
                <a16:creationId xmlns:a16="http://schemas.microsoft.com/office/drawing/2014/main" id="{781AC41A-08CC-491A-95AF-0D9FAF70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076450"/>
            <a:ext cx="20193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Postgres + pgvector</a:t>
            </a:r>
          </a:p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资源元数据 / 任务 / 向量索引</a:t>
            </a:r>
          </a:p>
        </p:txBody>
      </p:sp>
      <p:sp>
        <p:nvSpPr>
          <p:cNvPr id="7" name="fastapi">
            <a:extLst xmlns:a="http://schemas.openxmlformats.org/drawingml/2006/main">
              <a:ext uri="{FF2B5EF4-FFF2-40B4-BE49-F238E27FC236}">
                <a16:creationId xmlns:a16="http://schemas.microsoft.com/office/drawing/2014/main" id="{E9FAF217-4C85-427A-85A8-99289E3D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81425"/>
            <a:ext cx="18478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3335">
            <a:solidFill>
              <a:srgbClr val="4F46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Python FastAPI</a:t>
            </a:r>
          </a:p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内部采集与任务控制接口</a:t>
            </a:r>
          </a:p>
        </p:txBody>
      </p:sp>
      <p:sp>
        <p:nvSpPr>
          <p:cNvPr id="8" name="python-worker">
            <a:extLst xmlns:a="http://schemas.openxmlformats.org/drawingml/2006/main">
              <a:ext uri="{FF2B5EF4-FFF2-40B4-BE49-F238E27FC236}">
                <a16:creationId xmlns:a16="http://schemas.microsoft.com/office/drawing/2014/main" id="{BD5E6842-D5C3-46F4-93E0-B8BA9710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781425"/>
            <a:ext cx="18478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6474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Python Worker / CLI</a:t>
            </a:r>
          </a:p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抓取 / 清洗 / 摘要 / 发布</a:t>
            </a:r>
          </a:p>
        </p:txBody>
      </p:sp>
      <p:sp>
        <p:nvSpPr>
          <p:cNvPr id="9" name="task-center">
            <a:extLst xmlns:a="http://schemas.openxmlformats.org/drawingml/2006/main">
              <a:ext uri="{FF2B5EF4-FFF2-40B4-BE49-F238E27FC236}">
                <a16:creationId xmlns:a16="http://schemas.microsoft.com/office/drawing/2014/main" id="{F83FED7D-FB1F-4EE8-84BF-9678E2C0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819650"/>
            <a:ext cx="2019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任务中心</a:t>
            </a:r>
          </a:p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resource_tasks / task_logs</a:t>
            </a:r>
          </a:p>
        </p:txBody>
      </p:sp>
      <p:sp>
        <p:nvSpPr>
          <p:cNvPr id="10" name="automation-layer">
            <a:extLst xmlns:a="http://schemas.openxmlformats.org/drawingml/2006/main">
              <a:ext uri="{FF2B5EF4-FFF2-40B4-BE49-F238E27FC236}">
                <a16:creationId xmlns:a16="http://schemas.microsoft.com/office/drawing/2014/main" id="{02F96428-17A2-471B-81B7-BF667E32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704975"/>
            <a:ext cx="2276475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45309"/>
                </a:solidFill>
              </a:defRPr>
            </a:pPr>
            <a:r>
              <a:rPr sz="1500" b="1">
                <a:solidFill>
                  <a:srgbClr val="B45309"/>
                </a:solidFill>
              </a:rPr>
              <a:t>自动化增强层</a:t>
            </a:r>
          </a:p>
        </p:txBody>
      </p:sp>
      <p:sp>
        <p:nvSpPr>
          <p:cNvPr id="11" name="n8n">
            <a:extLst xmlns:a="http://schemas.openxmlformats.org/drawingml/2006/main">
              <a:ext uri="{FF2B5EF4-FFF2-40B4-BE49-F238E27FC236}">
                <a16:creationId xmlns:a16="http://schemas.microsoft.com/office/drawing/2014/main" id="{7AF5DCC1-7050-4A5B-A2A0-561AC587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479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n8n</a:t>
            </a:r>
          </a:p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定时 / 编排 / Webhook / 外部连接</a:t>
            </a:r>
          </a:p>
        </p:txBody>
      </p:sp>
      <p:sp>
        <p:nvSpPr>
          <p:cNvPr id="12" name="external-systems">
            <a:extLst xmlns:a="http://schemas.openxmlformats.org/drawingml/2006/main">
              <a:ext uri="{FF2B5EF4-FFF2-40B4-BE49-F238E27FC236}">
                <a16:creationId xmlns:a16="http://schemas.microsoft.com/office/drawing/2014/main" id="{C5F53759-2C6C-49AB-9477-24A131D9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362325"/>
            <a:ext cx="1619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外部系统</a:t>
            </a:r>
          </a:p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CMS / Email / Slack</a:t>
            </a:r>
          </a:p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Webhook</a:t>
            </a:r>
          </a:p>
        </p:txBody>
      </p:sp>
      <p:sp>
        <p:nvSpPr>
          <p:cNvPr id="13" name="integration-layer">
            <a:extLst xmlns:a="http://schemas.openxmlformats.org/drawingml/2006/main">
              <a:ext uri="{FF2B5EF4-FFF2-40B4-BE49-F238E27FC236}">
                <a16:creationId xmlns:a16="http://schemas.microsoft.com/office/drawing/2014/main" id="{6839C11D-03C5-473E-B277-9950BBE7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457700"/>
            <a:ext cx="2276475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75569"/>
                </a:solidFill>
              </a:defRPr>
            </a:pPr>
            <a:r>
              <a:rPr sz="1500" b="1">
                <a:solidFill>
                  <a:srgbClr val="475569"/>
                </a:solidFill>
              </a:rPr>
              <a:t>可选集成层</a:t>
            </a:r>
          </a:p>
        </p:txBody>
      </p:sp>
      <p:sp>
        <p:nvSpPr>
          <p:cNvPr id="14" name="mcp-api">
            <a:extLst xmlns:a="http://schemas.openxmlformats.org/drawingml/2006/main">
              <a:ext uri="{FF2B5EF4-FFF2-40B4-BE49-F238E27FC236}">
                <a16:creationId xmlns:a16="http://schemas.microsoft.com/office/drawing/2014/main" id="{EBBD9E2A-4861-43FC-886D-C29E0FDF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933950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474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MCP / OpenAI API</a:t>
            </a:r>
          </a:p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给上层应用或 Agent</a:t>
            </a:r>
          </a:p>
          <a:p xmlns:a="http://schemas.openxmlformats.org/drawingml/2006/main">
            <a:pPr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调用</a:t>
            </a:r>
          </a:p>
        </p:txBody>
      </p:sp>
      <p:cxnSp>
        <p:nvCxnSpPr>
          <p:cNvPr id="45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209800" y="2486025"/>
            <a:ext cx="895350" cy="381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4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953000" y="2486025"/>
            <a:ext cx="1533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47" name="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4029075" y="2895600"/>
            <a:ext cx="0" cy="885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46E5"/>
            </a:solidFill>
            <a:prstDash val="solid"/>
            <a:tailEnd type="arrow" w="med" len="med"/>
          </a:ln>
        </p:spPr>
      </p:cxnSp>
      <p:cxnSp>
        <p:nvCxnSpPr>
          <p:cNvPr id="4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953000" y="419100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46E5"/>
            </a:solidFill>
            <a:prstDash val="solid"/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8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6229350" y="2895600"/>
            <a:ext cx="1266825" cy="885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6A34A"/>
            </a:solidFill>
            <a:prstDash val="solid"/>
            <a:tailEnd type="arrow" w="med" len="med"/>
          </a:ln>
        </p:spPr>
      </p:cxnSp>
      <p:cxnSp>
        <p:nvCxnSpPr>
          <p:cNvPr id="5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H="1">
            <a:off x="6486525" y="4191000"/>
            <a:ext cx="666750" cy="962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51" name=""/>
          <p:cNvCxnSpPr>
            <a:stCxn xmlns:a="http://schemas.openxmlformats.org/drawingml/2006/main" id="9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7496175" y="2895600"/>
            <a:ext cx="0" cy="1924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  <a:tailEnd type="arrow" w="med" len="med"/>
          </a:ln>
        </p:spPr>
      </p:cxnSp>
      <p:cxnSp>
        <p:nvCxnSpPr>
          <p:cNvPr id="52" name="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4953000" y="2838450"/>
            <a:ext cx="4772025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  <a:prstDash val="solid"/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0534650" y="322897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  <a:prstDash val="solid"/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14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4953000" y="4191000"/>
            <a:ext cx="4772025" cy="1019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dash"/>
            <a:tailEnd type="arrow" w="med" len="med"/>
          </a:ln>
        </p:spPr>
      </p:cxnSp>
      <p:sp>
        <p:nvSpPr>
          <p:cNvPr id="25" name="principle-1">
            <a:extLst xmlns:a="http://schemas.openxmlformats.org/drawingml/2006/main">
              <a:ext uri="{FF2B5EF4-FFF2-40B4-BE49-F238E27FC236}">
                <a16:creationId xmlns:a16="http://schemas.microsoft.com/office/drawing/2014/main" id="{03F0C52E-5836-4643-B0CF-1784E1EC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产品边界</a:t>
            </a:r>
          </a:p>
        </p:txBody>
      </p:sp>
      <p:sp>
        <p:nvSpPr>
          <p:cNvPr id="26" name="principle-1-text">
            <a:extLst xmlns:a="http://schemas.openxmlformats.org/drawingml/2006/main">
              <a:ext uri="{FF2B5EF4-FFF2-40B4-BE49-F238E27FC236}">
                <a16:creationId xmlns:a16="http://schemas.microsoft.com/office/drawing/2014/main" id="{E0101D2B-F330-4CC7-9F65-3F4E43F9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722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后台、数据库、资源模型、任务状态属于 ContentPilot。</a:t>
            </a:r>
          </a:p>
        </p:txBody>
      </p:sp>
      <p:sp>
        <p:nvSpPr>
          <p:cNvPr id="27" name="principle-2">
            <a:extLst xmlns:a="http://schemas.openxmlformats.org/drawingml/2006/main">
              <a:ext uri="{FF2B5EF4-FFF2-40B4-BE49-F238E27FC236}">
                <a16:creationId xmlns:a16="http://schemas.microsoft.com/office/drawing/2014/main" id="{4EC0C001-F4F7-420F-BFD3-FBE4381C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9245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45309"/>
                </a:solidFill>
              </a:defRPr>
            </a:pPr>
            <a:r>
              <a:rPr sz="1275" b="1">
                <a:solidFill>
                  <a:srgbClr val="B45309"/>
                </a:solidFill>
              </a:rPr>
              <a:t>n8n 边界</a:t>
            </a:r>
          </a:p>
        </p:txBody>
      </p:sp>
      <p:sp>
        <p:nvSpPr>
          <p:cNvPr id="28" name="principle-2-text">
            <a:extLst xmlns:a="http://schemas.openxmlformats.org/drawingml/2006/main">
              <a:ext uri="{FF2B5EF4-FFF2-40B4-BE49-F238E27FC236}">
                <a16:creationId xmlns:a16="http://schemas.microsoft.com/office/drawing/2014/main" id="{FD8FEA84-A6D9-4C1C-ACB2-C45A3611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172200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n8n 只负责编排、定时和连接外部系统，不承载核心后台。</a:t>
            </a:r>
          </a:p>
        </p:txBody>
      </p:sp>
      <p:sp>
        <p:nvSpPr>
          <p:cNvPr id="29" name="principle-3">
            <a:extLst xmlns:a="http://schemas.openxmlformats.org/drawingml/2006/main">
              <a:ext uri="{FF2B5EF4-FFF2-40B4-BE49-F238E27FC236}">
                <a16:creationId xmlns:a16="http://schemas.microsoft.com/office/drawing/2014/main" id="{99DD8A18-ACFF-4483-88C5-680EDBD8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9245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75569"/>
                </a:solidFill>
              </a:defRPr>
            </a:pPr>
            <a:r>
              <a:rPr sz="1275" b="1">
                <a:solidFill>
                  <a:srgbClr val="475569"/>
                </a:solidFill>
              </a:rPr>
              <a:t>端口策略</a:t>
            </a:r>
          </a:p>
        </p:txBody>
      </p:sp>
      <p:sp>
        <p:nvSpPr>
          <p:cNvPr id="30" name="principle-3-text">
            <a:extLst xmlns:a="http://schemas.openxmlformats.org/drawingml/2006/main">
              <a:ext uri="{FF2B5EF4-FFF2-40B4-BE49-F238E27FC236}">
                <a16:creationId xmlns:a16="http://schemas.microsoft.com/office/drawing/2014/main" id="{B668B9DF-0BF5-4802-A84D-DC73FE86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1722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对外优先保留 Next.js 后台入口；Python API 可作为本机或容器内服务。</a:t>
            </a:r>
          </a:p>
        </p:txBody>
      </p:sp>
    </p:spTree>
    <p:extLst>
      <p:ext uri="{BB962C8B-B14F-4D97-AF65-F5344CB8AC3E}">
        <p14:creationId xmlns:p14="http://schemas.microsoft.com/office/powerpoint/2010/main" val="9476871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2026-07-05T22:36:33.5570000Z</dcterms:created>
  <dcterms:modified xsi:type="dcterms:W3CDTF">2026-07-05T22:36:33.5570000Z</dcterms:modified>
</coreProperties>
</file>